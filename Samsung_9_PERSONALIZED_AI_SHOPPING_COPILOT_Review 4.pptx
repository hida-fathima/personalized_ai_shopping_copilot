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01FDDB-00FE-44DE-9055-444EE29EDD7C}">
  <a:tblStyle styleId="{7E01FDDB-00FE-44DE-9055-444EE29EDD7C}"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da Fathima PH" userId="e710a13aaa5890fd" providerId="LiveId" clId="{59A81BD8-8BCA-49BF-B801-4AB6E1801771}"/>
    <pc:docChg chg="modSld">
      <pc:chgData name="Hida Fathima PH" userId="e710a13aaa5890fd" providerId="LiveId" clId="{59A81BD8-8BCA-49BF-B801-4AB6E1801771}" dt="2025-11-13T06:11:31.803" v="3" actId="20577"/>
      <pc:docMkLst>
        <pc:docMk/>
      </pc:docMkLst>
      <pc:sldChg chg="modSp mod">
        <pc:chgData name="Hida Fathima PH" userId="e710a13aaa5890fd" providerId="LiveId" clId="{59A81BD8-8BCA-49BF-B801-4AB6E1801771}" dt="2025-11-13T06:11:31.803" v="3" actId="20577"/>
        <pc:sldMkLst>
          <pc:docMk/>
          <pc:sldMk cId="0" sldId="256"/>
        </pc:sldMkLst>
        <pc:spChg chg="mod">
          <ac:chgData name="Hida Fathima PH" userId="e710a13aaa5890fd" providerId="LiveId" clId="{59A81BD8-8BCA-49BF-B801-4AB6E1801771}" dt="2025-11-13T06:11:31.803" v="3"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78435d688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78435d68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78435d68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78435d68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78435d688d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78435d688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684275e9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684275e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8435d68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8435d688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78435d688d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g378435d688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17365D"/>
              </a:buClr>
              <a:buSzPts val="2000"/>
              <a:buNone/>
              <a:defRPr sz="2000" b="1">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a:solidFill>
                  <a:schemeClr val="dk1"/>
                </a:solidFill>
              </a:defRPr>
            </a:lvl1pPr>
            <a:lvl2pPr marL="914400" lvl="1" indent="-355600" algn="l">
              <a:lnSpc>
                <a:spcPct val="100000"/>
              </a:lnSpc>
              <a:spcBef>
                <a:spcPts val="400"/>
              </a:spcBef>
              <a:spcAft>
                <a:spcPts val="0"/>
              </a:spcAft>
              <a:buClr>
                <a:schemeClr val="dk1"/>
              </a:buClr>
              <a:buSzPts val="2000"/>
              <a:buChar char="–"/>
              <a:defRPr>
                <a:solidFill>
                  <a:schemeClr val="dk1"/>
                </a:solidFill>
              </a:defRPr>
            </a:lvl2pPr>
            <a:lvl3pPr marL="1371600" lvl="2" indent="-342900" algn="l">
              <a:lnSpc>
                <a:spcPct val="100000"/>
              </a:lnSpc>
              <a:spcBef>
                <a:spcPts val="360"/>
              </a:spcBef>
              <a:spcAft>
                <a:spcPts val="0"/>
              </a:spcAft>
              <a:buClr>
                <a:schemeClr val="dk1"/>
              </a:buClr>
              <a:buSzPts val="1800"/>
              <a:buChar char="•"/>
              <a:defRPr>
                <a:solidFill>
                  <a:schemeClr val="dk1"/>
                </a:solidFill>
              </a:defRPr>
            </a:lvl3pPr>
            <a:lvl4pPr marL="1828800" lvl="3" indent="-330200" algn="l">
              <a:lnSpc>
                <a:spcPct val="100000"/>
              </a:lnSpc>
              <a:spcBef>
                <a:spcPts val="320"/>
              </a:spcBef>
              <a:spcAft>
                <a:spcPts val="0"/>
              </a:spcAft>
              <a:buClr>
                <a:schemeClr val="dk1"/>
              </a:buClr>
              <a:buSzPts val="1600"/>
              <a:buChar char="–"/>
              <a:defRPr>
                <a:solidFill>
                  <a:schemeClr val="dk1"/>
                </a:solidFill>
              </a:defRPr>
            </a:lvl4pPr>
            <a:lvl5pPr marL="2286000" lvl="4" indent="-330200" algn="l">
              <a:lnSpc>
                <a:spcPct val="100000"/>
              </a:lnSpc>
              <a:spcBef>
                <a:spcPts val="320"/>
              </a:spcBef>
              <a:spcAft>
                <a:spcPts val="0"/>
              </a:spcAft>
              <a:buClr>
                <a:schemeClr val="dk1"/>
              </a:buClr>
              <a:buSzPts val="16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F0000"/>
              </a:buClr>
              <a:buSzPts val="4000"/>
              <a:buFont typeface="Verdana"/>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sm" len="sm"/>
            <a:tailEnd type="none" w="sm" len="sm"/>
          </a:ln>
        </p:spPr>
      </p:cxnSp>
      <p:pic>
        <p:nvPicPr>
          <p:cNvPr id="12" name="Google Shape;12;p1"/>
          <p:cNvPicPr preferRelativeResize="0"/>
          <p:nvPr/>
        </p:nvPicPr>
        <p:blipFill rotWithShape="1">
          <a:blip r:embed="rId13">
            <a:alphaModFix/>
          </a:blip>
          <a:srcRect b="18045"/>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Hida-Fathima/Personalized_AI_Shopping_Copilo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publication/371023719_AI-based_chatbots_in_conversational_commerce_and_their_effects_on_product_and_price_perception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www.researchgate.net/publication/384858828_THE_ADOPTION_OF_AI-DRIVEN_CHATBOTS_INTO_A_RECOMMENDATION_FOR_E-COMMERCE_SYSTEMS_TO_TARGETED_CUSTOMER_IN_THE_SELECTION_OF_PRODUCT" TargetMode="External"/><Relationship Id="rId4" Type="http://schemas.openxmlformats.org/officeDocument/2006/relationships/hyperlink" Target="https://www.ijraset.com/best-journal/ecommerce-website-with-recommendation-system-including-chatbot-reverse-image-search"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j.iswa.2024.200435"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doi.org/10.1007/978-3-031-70488-8_10" TargetMode="External"/><Relationship Id="rId5" Type="http://schemas.openxmlformats.org/officeDocument/2006/relationships/hyperlink" Target="https://www.researchgate.net/publication/352815845_Product_Based_Recommendation_System_On_Amazon_Data" TargetMode="External"/><Relationship Id="rId4" Type="http://schemas.openxmlformats.org/officeDocument/2006/relationships/hyperlink" Target="https://www.ijcrt.org/papers/IJCRT2504553.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17365D"/>
              </a:buClr>
              <a:buSzPts val="2800"/>
              <a:buFont typeface="Verdana"/>
              <a:buNone/>
            </a:pPr>
            <a:r>
              <a:rPr lang="en-US" sz="2400" u="sng">
                <a:solidFill>
                  <a:schemeClr val="dk1"/>
                </a:solidFill>
                <a:latin typeface="Cambria"/>
                <a:ea typeface="Cambria"/>
                <a:cs typeface="Cambria"/>
                <a:sym typeface="Cambria"/>
              </a:rPr>
              <a:t>PROJECT TITLE:</a:t>
            </a:r>
            <a:r>
              <a:rPr lang="en-US" sz="2400">
                <a:solidFill>
                  <a:schemeClr val="dk1"/>
                </a:solidFill>
                <a:latin typeface="Cambria"/>
                <a:ea typeface="Cambria"/>
                <a:cs typeface="Cambria"/>
                <a:sym typeface="Cambria"/>
              </a:rPr>
              <a:t> PERSONALIZED AI SHOPPING COPILOT</a:t>
            </a:r>
            <a:endParaRPr sz="2400">
              <a:solidFill>
                <a:schemeClr val="dk1"/>
              </a:solidFill>
              <a:latin typeface="Cambria"/>
              <a:ea typeface="Cambria"/>
              <a:cs typeface="Cambria"/>
              <a:sym typeface="Cambria"/>
            </a:endParaRPr>
          </a:p>
        </p:txBody>
      </p:sp>
      <p:sp>
        <p:nvSpPr>
          <p:cNvPr id="88" name="Google Shape;88;p13"/>
          <p:cNvSpPr txBox="1">
            <a:spLocks noGrp="1"/>
          </p:cNvSpPr>
          <p:nvPr>
            <p:ph type="subTitle" idx="1"/>
          </p:nvPr>
        </p:nvSpPr>
        <p:spPr>
          <a:xfrm>
            <a:off x="790468" y="1969152"/>
            <a:ext cx="4391100" cy="552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Samsung_9</a:t>
            </a:r>
            <a:endParaRPr sz="1800">
              <a:latin typeface="Cambria"/>
              <a:ea typeface="Cambria"/>
              <a:cs typeface="Cambria"/>
              <a:sym typeface="Cambria"/>
            </a:endParaRPr>
          </a:p>
        </p:txBody>
      </p:sp>
      <p:sp>
        <p:nvSpPr>
          <p:cNvPr id="89" name="Google Shape;89;p13"/>
          <p:cNvSpPr txBox="1"/>
          <p:nvPr/>
        </p:nvSpPr>
        <p:spPr>
          <a:xfrm>
            <a:off x="6872250" y="2513350"/>
            <a:ext cx="5122200" cy="20205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17365D"/>
              </a:buClr>
              <a:buSzPts val="2000"/>
              <a:buFont typeface="Arial"/>
              <a:buNone/>
            </a:pPr>
            <a:r>
              <a:rPr lang="en-US" sz="1800" b="1" i="0" u="none" strike="noStrike" cap="none">
                <a:solidFill>
                  <a:srgbClr val="17365D"/>
                </a:solidFill>
                <a:latin typeface="Cambria"/>
                <a:ea typeface="Cambria"/>
                <a:cs typeface="Cambria"/>
                <a:sym typeface="Cambria"/>
              </a:rPr>
              <a:t>Under the Supervision of,</a:t>
            </a:r>
            <a:endParaRPr sz="1800" b="0" i="0" u="none" strike="noStrike" cap="none">
              <a:solidFill>
                <a:srgbClr val="000000"/>
              </a:solidFill>
              <a:latin typeface="Cambria"/>
              <a:ea typeface="Cambria"/>
              <a:cs typeface="Cambria"/>
              <a:sym typeface="Cambria"/>
            </a:endParaRPr>
          </a:p>
          <a:p>
            <a:pPr marL="0" marR="0" lvl="0" indent="0" algn="ctr"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Dr.</a:t>
            </a:r>
            <a:r>
              <a:rPr lang="en-US" sz="1700" b="1">
                <a:solidFill>
                  <a:srgbClr val="17365D"/>
                </a:solidFill>
                <a:latin typeface="Cambria"/>
                <a:ea typeface="Cambria"/>
                <a:cs typeface="Cambria"/>
                <a:sym typeface="Cambria"/>
              </a:rPr>
              <a:t> Nagaraja  S.R.</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a:solidFill>
                  <a:srgbClr val="17365D"/>
                </a:solidFill>
                <a:latin typeface="Cambria"/>
                <a:ea typeface="Cambria"/>
                <a:cs typeface="Cambria"/>
                <a:sym typeface="Cambria"/>
              </a:rPr>
              <a:t>A</a:t>
            </a:r>
            <a:r>
              <a:rPr lang="en-US" sz="1700" b="1" i="0" u="none" strike="noStrike" cap="none">
                <a:solidFill>
                  <a:srgbClr val="17365D"/>
                </a:solidFill>
                <a:latin typeface="Cambria"/>
                <a:ea typeface="Cambria"/>
                <a:cs typeface="Cambria"/>
                <a:sym typeface="Cambria"/>
              </a:rPr>
              <a:t>ssociate Professor </a:t>
            </a:r>
            <a:r>
              <a:rPr lang="en-US" sz="1700" b="1">
                <a:solidFill>
                  <a:srgbClr val="17365D"/>
                </a:solidFill>
                <a:latin typeface="Cambria"/>
                <a:ea typeface="Cambria"/>
                <a:cs typeface="Cambria"/>
                <a:sym typeface="Cambria"/>
              </a:rPr>
              <a:t>-Selection Grade</a:t>
            </a:r>
            <a:endParaRPr sz="1700" b="1">
              <a:solidFill>
                <a:srgbClr val="17365D"/>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School of Computer Science and Engineering</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Presidency University</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874240"/>
          <a:ext cx="5418675" cy="2194620"/>
        </p:xfrm>
        <a:graphic>
          <a:graphicData uri="http://schemas.openxmlformats.org/drawingml/2006/table">
            <a:tbl>
              <a:tblPr firstRow="1" bandRow="1">
                <a:noFill/>
                <a:tableStyleId>{7E01FDDB-00FE-44DE-9055-444EE29EDD7C}</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50">
                <a:tc>
                  <a:txBody>
                    <a:bodyPr/>
                    <a:lstStyle/>
                    <a:p>
                      <a:pPr marL="0" marR="0" lvl="1"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Roll Number</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Student Name</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20221CAI0002</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800"/>
                        <a:buFont typeface="Arial"/>
                        <a:buNone/>
                      </a:pPr>
                      <a:r>
                        <a:rPr lang="en-US" sz="1800"/>
                        <a:t>Hida Fathima P H</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20221CSE0291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a:t>Ruchitha A 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20221ECE0134</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a:t>Manasa B 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17365D"/>
              </a:buClr>
              <a:buSzPts val="1800"/>
              <a:buFont typeface="Arial"/>
              <a:buNone/>
            </a:pPr>
            <a:r>
              <a:rPr lang="en-US" sz="1800" b="1" i="0" u="none" strike="noStrike" cap="none" dirty="0">
                <a:solidFill>
                  <a:srgbClr val="17365D"/>
                </a:solidFill>
                <a:latin typeface="Cambria"/>
                <a:ea typeface="Cambria"/>
                <a:cs typeface="Cambria"/>
                <a:sym typeface="Cambria"/>
              </a:rPr>
              <a:t>CSE7101- Capstone Project</a:t>
            </a:r>
            <a:endParaRPr sz="1800" b="0" i="0" u="none" strike="noStrike" cap="none" dirty="0">
              <a:solidFill>
                <a:srgbClr val="000000"/>
              </a:solidFill>
              <a:latin typeface="Cambria"/>
              <a:ea typeface="Cambria"/>
              <a:cs typeface="Cambria"/>
              <a:sym typeface="Cambria"/>
            </a:endParaRPr>
          </a:p>
          <a:p>
            <a:pPr marL="0" marR="0" lvl="0" indent="0" algn="ctr" rtl="0">
              <a:lnSpc>
                <a:spcPct val="100000"/>
              </a:lnSpc>
              <a:spcBef>
                <a:spcPts val="310"/>
              </a:spcBef>
              <a:spcAft>
                <a:spcPts val="0"/>
              </a:spcAft>
              <a:buClr>
                <a:srgbClr val="17365D"/>
              </a:buClr>
              <a:buSzPts val="1800"/>
              <a:buFont typeface="Arial"/>
              <a:buNone/>
            </a:pPr>
            <a:r>
              <a:rPr lang="en-US" sz="1800" b="1" i="0" u="none" strike="noStrike" cap="none" dirty="0">
                <a:solidFill>
                  <a:srgbClr val="17365D"/>
                </a:solidFill>
                <a:latin typeface="Cambria"/>
                <a:ea typeface="Cambria"/>
                <a:cs typeface="Cambria"/>
                <a:sym typeface="Cambria"/>
              </a:rPr>
              <a:t>Review-4</a:t>
            </a:r>
            <a:endParaRPr sz="1800" b="1" i="0" u="none" strike="noStrike" cap="none" dirty="0">
              <a:solidFill>
                <a:srgbClr val="17365D"/>
              </a:solidFill>
              <a:latin typeface="Cambria"/>
              <a:ea typeface="Cambria"/>
              <a:cs typeface="Cambria"/>
              <a:sym typeface="Cambria"/>
            </a:endParaRPr>
          </a:p>
        </p:txBody>
      </p:sp>
      <p:sp>
        <p:nvSpPr>
          <p:cNvPr id="92" name="Google Shape;92;p13"/>
          <p:cNvSpPr txBox="1"/>
          <p:nvPr/>
        </p:nvSpPr>
        <p:spPr>
          <a:xfrm>
            <a:off x="0" y="4686300"/>
            <a:ext cx="12249900" cy="156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Program: </a:t>
            </a:r>
            <a:r>
              <a:rPr lang="en-US" sz="1800" b="1" dirty="0" err="1">
                <a:solidFill>
                  <a:schemeClr val="dk1"/>
                </a:solidFill>
                <a:latin typeface="Cambria"/>
                <a:ea typeface="Cambria"/>
                <a:cs typeface="Cambria"/>
                <a:sym typeface="Cambria"/>
              </a:rPr>
              <a:t>B.Tech</a:t>
            </a:r>
            <a:endParaRPr dirty="0">
              <a:solidFill>
                <a:schemeClr val="dk1"/>
              </a:solidFill>
            </a:endParaRPr>
          </a:p>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a:t>
            </a:r>
            <a:r>
              <a:rPr lang="en-US" sz="1800" b="1" i="0" u="none" strike="noStrike" cap="none" dirty="0" err="1">
                <a:solidFill>
                  <a:schemeClr val="accent1"/>
                </a:solidFill>
                <a:latin typeface="Cambria"/>
                <a:ea typeface="Cambria"/>
                <a:cs typeface="Cambria"/>
                <a:sym typeface="Cambria"/>
              </a:rPr>
              <a:t>HoD</a:t>
            </a:r>
            <a:r>
              <a:rPr lang="en-US" sz="1800" b="1" i="0" u="none" strike="noStrike" cap="none" dirty="0">
                <a:solidFill>
                  <a:schemeClr val="accent1"/>
                </a:solidFill>
                <a:latin typeface="Cambria"/>
                <a:ea typeface="Cambria"/>
                <a:cs typeface="Cambria"/>
                <a:sym typeface="Cambria"/>
              </a:rPr>
              <a:t>: </a:t>
            </a:r>
            <a:r>
              <a:rPr lang="en-US" sz="1800" b="1" dirty="0">
                <a:solidFill>
                  <a:schemeClr val="tx1"/>
                </a:solidFill>
                <a:latin typeface="Cambria"/>
                <a:ea typeface="Cambria"/>
                <a:cs typeface="Cambria"/>
                <a:sym typeface="Cambria"/>
              </a:rPr>
              <a:t>Dr. Robin Rohit Vincent</a:t>
            </a:r>
            <a:endParaRPr dirty="0">
              <a:solidFill>
                <a:schemeClr val="tx1"/>
              </a:solidFill>
            </a:endParaRPr>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Program Project Coordinator: </a:t>
            </a:r>
            <a:r>
              <a:rPr lang="en-US" sz="1800" b="1" i="0" u="none" strike="noStrike" cap="none" dirty="0">
                <a:solidFill>
                  <a:srgbClr val="FF0000"/>
                </a:solidFill>
                <a:latin typeface="Cambria"/>
                <a:ea typeface="Cambria"/>
                <a:cs typeface="Cambria"/>
                <a:sym typeface="Cambria"/>
              </a:rPr>
              <a:t>Refer- Annexure-1</a:t>
            </a:r>
            <a:endParaRPr dirty="0"/>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School Project Coordinators: </a:t>
            </a:r>
            <a:r>
              <a:rPr lang="en-US" sz="1800" b="1" i="0" u="none" strike="noStrike" cap="none" dirty="0">
                <a:solidFill>
                  <a:schemeClr val="dk1"/>
                </a:solidFill>
                <a:latin typeface="Cambria"/>
                <a:ea typeface="Cambria"/>
                <a:cs typeface="Cambria"/>
                <a:sym typeface="Cambria"/>
              </a:rPr>
              <a:t>Dr. Sampath A K , Dr. Geetha A </a:t>
            </a:r>
            <a:endParaRPr sz="1800" b="1" i="0" u="none" strike="noStrike" cap="none" dirty="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4</a:t>
            </a:r>
            <a:endParaRPr>
              <a:latin typeface="Cambria"/>
              <a:ea typeface="Cambria"/>
              <a:cs typeface="Cambria"/>
              <a:sym typeface="Cambria"/>
            </a:endParaRPr>
          </a:p>
        </p:txBody>
      </p:sp>
      <p:sp>
        <p:nvSpPr>
          <p:cNvPr id="98" name="Google Shape;98;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SzPts val="2400"/>
              <a:buNone/>
            </a:pPr>
            <a:endParaRPr sz="1900" b="1" dirty="0">
              <a:latin typeface="Cambria"/>
              <a:ea typeface="Cambria"/>
              <a:cs typeface="Cambria"/>
              <a:sym typeface="Cambria"/>
            </a:endParaRPr>
          </a:p>
          <a:p>
            <a:pPr marL="342900" lvl="0" indent="-190500" algn="just" rtl="0">
              <a:lnSpc>
                <a:spcPct val="100000"/>
              </a:lnSpc>
              <a:spcBef>
                <a:spcPts val="0"/>
              </a:spcBef>
              <a:spcAft>
                <a:spcPts val="0"/>
              </a:spcAft>
              <a:buSzPts val="2400"/>
              <a:buNone/>
            </a:pPr>
            <a:r>
              <a:rPr lang="en-US" sz="1900" b="1" dirty="0">
                <a:latin typeface="Cambria"/>
                <a:ea typeface="Cambria"/>
                <a:cs typeface="Cambria"/>
                <a:sym typeface="Cambria"/>
              </a:rPr>
              <a:t>Organization: </a:t>
            </a:r>
            <a:r>
              <a:rPr lang="en-US" sz="1900" dirty="0">
                <a:latin typeface="Cambria"/>
                <a:ea typeface="Cambria"/>
                <a:cs typeface="Cambria"/>
                <a:sym typeface="Cambria"/>
              </a:rPr>
              <a:t>School of Computer Science and Engineering</a:t>
            </a:r>
            <a:endParaRPr sz="1900" dirty="0">
              <a:latin typeface="Cambria"/>
              <a:ea typeface="Cambria"/>
              <a:cs typeface="Cambria"/>
              <a:sym typeface="Cambria"/>
            </a:endParaRPr>
          </a:p>
          <a:p>
            <a:pPr marL="342900" lvl="0" indent="-190500" algn="just" rtl="0">
              <a:lnSpc>
                <a:spcPct val="100000"/>
              </a:lnSpc>
              <a:spcBef>
                <a:spcPts val="0"/>
              </a:spcBef>
              <a:spcAft>
                <a:spcPts val="0"/>
              </a:spcAft>
              <a:buSzPts val="2400"/>
              <a:buNone/>
            </a:pPr>
            <a:endParaRPr sz="1900" dirty="0">
              <a:latin typeface="Cambria"/>
              <a:ea typeface="Cambria"/>
              <a:cs typeface="Cambria"/>
              <a:sym typeface="Cambria"/>
            </a:endParaRPr>
          </a:p>
          <a:p>
            <a:pPr marL="342900" lvl="0" indent="-190500" algn="just" rtl="0">
              <a:lnSpc>
                <a:spcPct val="200000"/>
              </a:lnSpc>
              <a:spcBef>
                <a:spcPts val="0"/>
              </a:spcBef>
              <a:spcAft>
                <a:spcPts val="0"/>
              </a:spcAft>
              <a:buSzPts val="2400"/>
              <a:buNone/>
            </a:pPr>
            <a:r>
              <a:rPr lang="en-US" sz="1900" b="1" dirty="0">
                <a:latin typeface="Cambria"/>
                <a:ea typeface="Cambria"/>
                <a:cs typeface="Cambria"/>
                <a:sym typeface="Cambria"/>
              </a:rPr>
              <a:t>Category (Hardware / Software / Both) :</a:t>
            </a:r>
            <a:r>
              <a:rPr lang="en-US" sz="1900" dirty="0">
                <a:latin typeface="Cambria"/>
                <a:ea typeface="Cambria"/>
                <a:cs typeface="Cambria"/>
                <a:sym typeface="Cambria"/>
              </a:rPr>
              <a:t> Software</a:t>
            </a:r>
            <a:endParaRPr sz="1900" dirty="0">
              <a:latin typeface="Cambria"/>
              <a:ea typeface="Cambria"/>
              <a:cs typeface="Cambria"/>
              <a:sym typeface="Cambria"/>
            </a:endParaRPr>
          </a:p>
          <a:p>
            <a:pPr marL="342900" lvl="0" indent="-190500" algn="just" rtl="0">
              <a:lnSpc>
                <a:spcPct val="200000"/>
              </a:lnSpc>
              <a:spcBef>
                <a:spcPts val="0"/>
              </a:spcBef>
              <a:spcAft>
                <a:spcPts val="0"/>
              </a:spcAft>
              <a:buSzPts val="2400"/>
              <a:buNone/>
            </a:pPr>
            <a:r>
              <a:rPr lang="en-US" sz="1900" b="1" dirty="0">
                <a:latin typeface="Cambria"/>
                <a:ea typeface="Cambria"/>
                <a:cs typeface="Cambria"/>
                <a:sym typeface="Cambria"/>
              </a:rPr>
              <a:t>Problem Description:</a:t>
            </a:r>
            <a:endParaRPr sz="1900" b="1" dirty="0">
              <a:latin typeface="Cambria"/>
              <a:ea typeface="Cambria"/>
              <a:cs typeface="Cambria"/>
              <a:sym typeface="Cambria"/>
            </a:endParaRPr>
          </a:p>
          <a:p>
            <a:pPr marL="0" lvl="0" indent="0" algn="just" rtl="0">
              <a:lnSpc>
                <a:spcPct val="115000"/>
              </a:lnSpc>
              <a:spcBef>
                <a:spcPts val="0"/>
              </a:spcBef>
              <a:spcAft>
                <a:spcPts val="0"/>
              </a:spcAft>
              <a:buSzPts val="2400"/>
              <a:buNone/>
            </a:pPr>
            <a:r>
              <a:rPr lang="en-US" sz="1900" dirty="0">
                <a:latin typeface="Cambria"/>
                <a:ea typeface="Cambria"/>
                <a:cs typeface="Cambria"/>
                <a:sym typeface="Cambria"/>
              </a:rPr>
              <a:t>Existing e-commerce recommendation engines lack the conversational and multimodal capabilities that modern customers expect. They are typically limited to keyword searches and cannot understand natural dialogue or visual inputs like images. This results in a rigid, impersonal shopping experience that fails to capture a user's real-time needs for personalized recommendations, comparisons, and product bundles.</a:t>
            </a:r>
            <a:endParaRPr sz="1900" dirty="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a:spLocks noGrp="1"/>
          </p:cNvSpPr>
          <p:nvPr>
            <p:ph type="body" idx="1"/>
          </p:nvPr>
        </p:nvSpPr>
        <p:spPr>
          <a:xfrm>
            <a:off x="655775" y="1466275"/>
            <a:ext cx="10668000" cy="4426800"/>
          </a:xfrm>
          <a:prstGeom prst="rect">
            <a:avLst/>
          </a:prstGeom>
          <a:noFill/>
          <a:ln>
            <a:noFill/>
          </a:ln>
        </p:spPr>
        <p:txBody>
          <a:bodyPr spcFirstLastPara="1" wrap="square" lIns="91425" tIns="45700" rIns="91425" bIns="45700" anchor="t" anchorCtr="0">
            <a:noAutofit/>
          </a:bodyPr>
          <a:lstStyle/>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Problem Statement</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Objectives</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Background and Related work for title Selection</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Analysis of Problem Statement</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Innovation or Novel Contributions</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Git-hub Link</a:t>
            </a:r>
            <a:endParaRPr sz="1900">
              <a:latin typeface="Cambria"/>
              <a:ea typeface="Cambria"/>
              <a:cs typeface="Cambria"/>
              <a:sym typeface="Cambria"/>
            </a:endParaRPr>
          </a:p>
          <a:p>
            <a:pPr marL="495300" lvl="0" indent="-311150" algn="just" rtl="0">
              <a:lnSpc>
                <a:spcPct val="200000"/>
              </a:lnSpc>
              <a:spcBef>
                <a:spcPts val="0"/>
              </a:spcBef>
              <a:spcAft>
                <a:spcPts val="0"/>
              </a:spcAft>
              <a:buClr>
                <a:schemeClr val="dk1"/>
              </a:buClr>
              <a:buSzPts val="1900"/>
              <a:buFont typeface="Cambria"/>
              <a:buChar char="•"/>
            </a:pPr>
            <a:r>
              <a:rPr lang="en-US" sz="1900">
                <a:latin typeface="Cambria"/>
                <a:ea typeface="Cambria"/>
                <a:cs typeface="Cambria"/>
                <a:sym typeface="Cambria"/>
              </a:rPr>
              <a:t>Timeline of the Project</a:t>
            </a:r>
            <a:endParaRPr sz="1900">
              <a:latin typeface="Cambria"/>
              <a:ea typeface="Cambria"/>
              <a:cs typeface="Cambria"/>
              <a:sym typeface="Cambria"/>
            </a:endParaRPr>
          </a:p>
          <a:p>
            <a:pPr marL="495300" lvl="0" indent="-311150" algn="just" rtl="0">
              <a:lnSpc>
                <a:spcPct val="200000"/>
              </a:lnSpc>
              <a:spcBef>
                <a:spcPts val="0"/>
              </a:spcBef>
              <a:spcAft>
                <a:spcPts val="0"/>
              </a:spcAft>
              <a:buClr>
                <a:schemeClr val="dk1"/>
              </a:buClr>
              <a:buSzPts val="1900"/>
              <a:buFont typeface="Cambria"/>
              <a:buChar char="•"/>
            </a:pPr>
            <a:r>
              <a:rPr lang="en-US" sz="1900">
                <a:latin typeface="Cambria"/>
                <a:ea typeface="Cambria"/>
                <a:cs typeface="Cambria"/>
                <a:sym typeface="Cambria"/>
              </a:rPr>
              <a:t>References</a:t>
            </a:r>
            <a:endParaRPr sz="190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just" rtl="0">
              <a:lnSpc>
                <a:spcPct val="200000"/>
              </a:lnSpc>
              <a:spcBef>
                <a:spcPts val="0"/>
              </a:spcBef>
              <a:spcAft>
                <a:spcPts val="0"/>
              </a:spcAft>
              <a:buNone/>
            </a:pPr>
            <a:r>
              <a:rPr lang="en-US">
                <a:solidFill>
                  <a:schemeClr val="dk2"/>
                </a:solidFill>
                <a:latin typeface="Cambria"/>
                <a:ea typeface="Cambria"/>
                <a:cs typeface="Cambria"/>
                <a:sym typeface="Cambria"/>
              </a:rPr>
              <a:t>Problem Statement</a:t>
            </a:r>
            <a:endParaRPr>
              <a:solidFill>
                <a:schemeClr val="dk2"/>
              </a:solidFill>
              <a:latin typeface="Cambria"/>
              <a:ea typeface="Cambria"/>
              <a:cs typeface="Cambria"/>
              <a:sym typeface="Cambria"/>
            </a:endParaRPr>
          </a:p>
        </p:txBody>
      </p:sp>
      <p:sp>
        <p:nvSpPr>
          <p:cNvPr id="110" name="Google Shape;110;p16"/>
          <p:cNvSpPr txBox="1">
            <a:spLocks noGrp="1"/>
          </p:cNvSpPr>
          <p:nvPr>
            <p:ph type="body" idx="1"/>
          </p:nvPr>
        </p:nvSpPr>
        <p:spPr>
          <a:xfrm>
            <a:off x="812800" y="1748325"/>
            <a:ext cx="10668000" cy="4347600"/>
          </a:xfrm>
          <a:prstGeom prst="rect">
            <a:avLst/>
          </a:prstGeom>
        </p:spPr>
        <p:txBody>
          <a:bodyPr spcFirstLastPara="1" wrap="square" lIns="91425" tIns="45700" rIns="91425" bIns="45700" anchor="t" anchorCtr="0">
            <a:normAutofit/>
          </a:bodyPr>
          <a:lstStyle/>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Existing e-commerce recommendation systems are often impersonal and rigid, relying on historical data and predefined filters.</a:t>
            </a:r>
            <a:endParaRPr sz="1900">
              <a:latin typeface="Cambria"/>
              <a:ea typeface="Cambria"/>
              <a:cs typeface="Cambria"/>
              <a:sym typeface="Cambria"/>
            </a:endParaRPr>
          </a:p>
          <a:p>
            <a:pPr marL="457200" lvl="0" indent="0" algn="just" rtl="0">
              <a:spcBef>
                <a:spcPts val="480"/>
              </a:spcBef>
              <a:spcAft>
                <a:spcPts val="0"/>
              </a:spcAft>
              <a:buNone/>
            </a:pPr>
            <a:endParaRPr sz="1900">
              <a:latin typeface="Cambria"/>
              <a:ea typeface="Cambria"/>
              <a:cs typeface="Cambria"/>
              <a:sym typeface="Cambria"/>
            </a:endParaRPr>
          </a:p>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They lack the ability to engage in natural, human-like conversations, leading to a disconnected user experience.</a:t>
            </a:r>
            <a:endParaRPr sz="1900">
              <a:latin typeface="Cambria"/>
              <a:ea typeface="Cambria"/>
              <a:cs typeface="Cambria"/>
              <a:sym typeface="Cambria"/>
            </a:endParaRPr>
          </a:p>
          <a:p>
            <a:pPr marL="457200" lvl="0" indent="0" algn="just" rtl="0">
              <a:spcBef>
                <a:spcPts val="480"/>
              </a:spcBef>
              <a:spcAft>
                <a:spcPts val="0"/>
              </a:spcAft>
              <a:buNone/>
            </a:pPr>
            <a:endParaRPr sz="1900">
              <a:latin typeface="Cambria"/>
              <a:ea typeface="Cambria"/>
              <a:cs typeface="Cambria"/>
              <a:sym typeface="Cambria"/>
            </a:endParaRPr>
          </a:p>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Current systems are primarily text-based, failing to leverage visual input (images) from users, which limits the scope and accuracy of product discovery.</a:t>
            </a:r>
            <a:endParaRPr sz="1900">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17"/>
          <p:cNvSpPr txBox="1">
            <a:spLocks noGrp="1"/>
          </p:cNvSpPr>
          <p:nvPr>
            <p:ph type="body" idx="1"/>
          </p:nvPr>
        </p:nvSpPr>
        <p:spPr>
          <a:xfrm>
            <a:off x="812800" y="1118075"/>
            <a:ext cx="10668000" cy="4977900"/>
          </a:xfrm>
          <a:prstGeom prst="rect">
            <a:avLst/>
          </a:prstGeom>
        </p:spPr>
        <p:txBody>
          <a:bodyPr spcFirstLastPara="1" wrap="square" lIns="91425" tIns="45700" rIns="91425" bIns="45700" anchor="ctr" anchorCtr="0">
            <a:normAutofit/>
          </a:bodyPr>
          <a:lstStyle/>
          <a:p>
            <a:pPr marL="76200" indent="0">
              <a:buNone/>
              <a:defRPr sz="1800">
                <a:solidFill>
                  <a:srgbClr val="000000"/>
                </a:solidFill>
              </a:defRPr>
            </a:pPr>
            <a:r>
              <a:rPr sz="1900" dirty="0">
                <a:latin typeface="Cambria" panose="02040503050406030204" pitchFamily="18" charset="0"/>
                <a:ea typeface="Cambria" panose="02040503050406030204" pitchFamily="18" charset="0"/>
              </a:rPr>
              <a:t>1. To design a multimodal AI shopping assistant that understands both text and image-based queries for product recommendations.</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2. To develop a conversational chatbot using </a:t>
            </a:r>
            <a:r>
              <a:rPr sz="1900" dirty="0" err="1">
                <a:latin typeface="Cambria" panose="02040503050406030204" pitchFamily="18" charset="0"/>
                <a:ea typeface="Cambria" panose="02040503050406030204" pitchFamily="18" charset="0"/>
              </a:rPr>
              <a:t>Cohere’s</a:t>
            </a:r>
            <a:r>
              <a:rPr sz="1900" dirty="0">
                <a:latin typeface="Cambria" panose="02040503050406030204" pitchFamily="18" charset="0"/>
                <a:ea typeface="Cambria" panose="02040503050406030204" pitchFamily="18" charset="0"/>
              </a:rPr>
              <a:t> Command-R+ API for intelligent, context-aware dialogue and product guidance.</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3. To integrate a state-of-the-art multimodal AI (Cohere Chat API) for high-accuracy semantic and visual search, replacing CLIP and Sentence-BERT.</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4. To build a seamless and engaging user interface using React.js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powered by real-time web scraping and dynamic responses.</a:t>
            </a:r>
          </a:p>
        </p:txBody>
      </p:sp>
      <p:sp>
        <p:nvSpPr>
          <p:cNvPr id="3" name="Title 2">
            <a:extLst>
              <a:ext uri="{FF2B5EF4-FFF2-40B4-BE49-F238E27FC236}">
                <a16:creationId xmlns:a16="http://schemas.microsoft.com/office/drawing/2014/main" id="{5D51A968-38C4-4A1A-6526-1B61C67E4B67}"/>
              </a:ext>
            </a:extLst>
          </p:cNvPr>
          <p:cNvSpPr>
            <a:spLocks noGrp="1"/>
          </p:cNvSpPr>
          <p:nvPr>
            <p:ph type="title"/>
          </p:nvPr>
        </p:nvSpPr>
        <p:spPr/>
        <p:txBody>
          <a:bodyPr/>
          <a:lstStyle/>
          <a:p>
            <a:r>
              <a:rPr lang="en-US" dirty="0"/>
              <a:t>Objectives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just" rtl="0">
              <a:lnSpc>
                <a:spcPct val="200000"/>
              </a:lnSpc>
              <a:spcBef>
                <a:spcPts val="0"/>
              </a:spcBef>
              <a:spcAft>
                <a:spcPts val="0"/>
              </a:spcAft>
              <a:buNone/>
            </a:pPr>
            <a:r>
              <a:rPr lang="en-US">
                <a:solidFill>
                  <a:schemeClr val="dk2"/>
                </a:solidFill>
                <a:latin typeface="Cambria"/>
                <a:ea typeface="Cambria"/>
                <a:cs typeface="Cambria"/>
                <a:sym typeface="Cambria"/>
              </a:rPr>
              <a:t>Background and Related work for title Selection</a:t>
            </a:r>
            <a:endParaRPr>
              <a:solidFill>
                <a:schemeClr val="dk2"/>
              </a:solidFill>
              <a:latin typeface="Cambria"/>
              <a:ea typeface="Cambria"/>
              <a:cs typeface="Cambria"/>
              <a:sym typeface="Cambria"/>
            </a:endParaRPr>
          </a:p>
        </p:txBody>
      </p:sp>
      <p:sp>
        <p:nvSpPr>
          <p:cNvPr id="122" name="Google Shape;122;p18"/>
          <p:cNvSpPr txBox="1">
            <a:spLocks noGrp="1"/>
          </p:cNvSpPr>
          <p:nvPr>
            <p:ph type="body" idx="1"/>
          </p:nvPr>
        </p:nvSpPr>
        <p:spPr>
          <a:xfrm>
            <a:off x="430850" y="1064675"/>
            <a:ext cx="11419200" cy="5031300"/>
          </a:xfrm>
          <a:prstGeom prst="rect">
            <a:avLst/>
          </a:prstGeom>
        </p:spPr>
        <p:txBody>
          <a:bodyPr spcFirstLastPara="1" wrap="square" lIns="91425" tIns="45700" rIns="91425" bIns="45700" anchor="ctr" anchorCtr="0">
            <a:noAutofit/>
          </a:bodyPr>
          <a:lstStyle/>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Conversational Commerce:</a:t>
            </a:r>
            <a:r>
              <a:rPr lang="en-US" sz="1900">
                <a:latin typeface="Cambria"/>
                <a:ea typeface="Cambria"/>
                <a:cs typeface="Cambria"/>
                <a:sym typeface="Cambria"/>
              </a:rPr>
              <a:t> Research shows that human-like traits in chatbots, such as empathy and social presence, significantly increase user trust and adoption (Sidlauskiene et al., 2023). This forms the basis for our conversational approach.</a:t>
            </a:r>
            <a:endParaRPr sz="1900">
              <a:latin typeface="Cambria"/>
              <a:ea typeface="Cambria"/>
              <a:cs typeface="Cambria"/>
              <a:sym typeface="Cambria"/>
            </a:endParaRPr>
          </a:p>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Recommendation Systems:</a:t>
            </a:r>
            <a:r>
              <a:rPr lang="en-US" sz="1900">
                <a:latin typeface="Cambria"/>
                <a:ea typeface="Cambria"/>
                <a:cs typeface="Cambria"/>
                <a:sym typeface="Cambria"/>
              </a:rPr>
              <a:t> Traditional e-commerce platforms (e.g., Amazon) heavily rely on collaborative and content-based filtering. While effective, these methods are not interactive and often feel like a "black box" to users.</a:t>
            </a:r>
            <a:endParaRPr sz="1900">
              <a:latin typeface="Cambria"/>
              <a:ea typeface="Cambria"/>
              <a:cs typeface="Cambria"/>
              <a:sym typeface="Cambria"/>
            </a:endParaRPr>
          </a:p>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Gaps in Existing Models:</a:t>
            </a:r>
            <a:endParaRPr sz="1900" b="1">
              <a:latin typeface="Cambria"/>
              <a:ea typeface="Cambria"/>
              <a:cs typeface="Cambria"/>
              <a:sym typeface="Cambria"/>
            </a:endParaRPr>
          </a:p>
          <a:p>
            <a:pPr marL="457200" lvl="0" indent="-349250" algn="just" rtl="0">
              <a:lnSpc>
                <a:spcPct val="115000"/>
              </a:lnSpc>
              <a:spcBef>
                <a:spcPts val="1200"/>
              </a:spcBef>
              <a:spcAft>
                <a:spcPts val="0"/>
              </a:spcAft>
              <a:buSzPts val="1900"/>
              <a:buFont typeface="Cambria"/>
              <a:buChar char="●"/>
            </a:pPr>
            <a:r>
              <a:rPr lang="en-US" sz="1900">
                <a:latin typeface="Cambria"/>
                <a:ea typeface="Cambria"/>
                <a:cs typeface="Cambria"/>
                <a:sym typeface="Cambria"/>
              </a:rPr>
              <a:t>Most current chatbots in e-commerce lack multimodal capabilities; they cannot process user-uploaded images for search.</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Font typeface="Cambria"/>
              <a:buChar char="●"/>
            </a:pPr>
            <a:r>
              <a:rPr lang="en-US" sz="1900">
                <a:latin typeface="Cambria"/>
                <a:ea typeface="Cambria"/>
                <a:cs typeface="Cambria"/>
                <a:sym typeface="Cambria"/>
              </a:rPr>
              <a:t>There is a need for systems that can handle complex, conversational queries rather than simple keywords.</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Font typeface="Cambria"/>
              <a:buChar char="●"/>
            </a:pPr>
            <a:r>
              <a:rPr lang="en-US" sz="1900">
                <a:latin typeface="Cambria"/>
                <a:ea typeface="Cambria"/>
                <a:cs typeface="Cambria"/>
                <a:sym typeface="Cambria"/>
              </a:rPr>
              <a:t>Few systems focus on explainable recommendations (i.e., telling the user </a:t>
            </a:r>
            <a:r>
              <a:rPr lang="en-US" sz="1900" i="1">
                <a:latin typeface="Cambria"/>
                <a:ea typeface="Cambria"/>
                <a:cs typeface="Cambria"/>
                <a:sym typeface="Cambria"/>
              </a:rPr>
              <a:t>why</a:t>
            </a:r>
            <a:r>
              <a:rPr lang="en-US" sz="1900">
                <a:latin typeface="Cambria"/>
                <a:ea typeface="Cambria"/>
                <a:cs typeface="Cambria"/>
                <a:sym typeface="Cambria"/>
              </a:rPr>
              <a:t> an item is recommended), which is a key factor in building trust.</a:t>
            </a:r>
            <a:endParaRPr sz="1900">
              <a:latin typeface="Cambria"/>
              <a:ea typeface="Cambria"/>
              <a:cs typeface="Cambria"/>
              <a:sym typeface="Cambria"/>
            </a:endParaRPr>
          </a:p>
          <a:p>
            <a:pPr marL="0" lvl="0" indent="0" algn="just" rtl="0">
              <a:lnSpc>
                <a:spcPct val="115000"/>
              </a:lnSpc>
              <a:spcBef>
                <a:spcPts val="1200"/>
              </a:spcBef>
              <a:spcAft>
                <a:spcPts val="0"/>
              </a:spcAft>
              <a:buNone/>
            </a:pPr>
            <a:r>
              <a:rPr lang="en-US" sz="1900" b="1">
                <a:latin typeface="Cambria"/>
                <a:ea typeface="Cambria"/>
                <a:cs typeface="Cambria"/>
                <a:sym typeface="Cambria"/>
              </a:rPr>
              <a:t>Emerging AI Techniques:</a:t>
            </a:r>
            <a:r>
              <a:rPr lang="en-US" sz="1900">
                <a:latin typeface="Cambria"/>
                <a:ea typeface="Cambria"/>
                <a:cs typeface="Cambria"/>
                <a:sym typeface="Cambria"/>
              </a:rPr>
              <a:t> Recent advancements in models like CLIP (for aligning images and text) and LLMs (like LLaMA) make it feasible to build a system that addresses these gaps effectively.</a:t>
            </a:r>
            <a:endParaRPr sz="19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a:ea typeface="Cambria"/>
                <a:cs typeface="Cambria"/>
                <a:sym typeface="Cambria"/>
              </a:rPr>
              <a:t>Analysis of Problem Statement</a:t>
            </a:r>
            <a:endParaRPr dirty="0"/>
          </a:p>
        </p:txBody>
      </p:sp>
      <p:sp>
        <p:nvSpPr>
          <p:cNvPr id="128" name="Google Shape;128;p19"/>
          <p:cNvSpPr txBox="1">
            <a:spLocks noGrp="1"/>
          </p:cNvSpPr>
          <p:nvPr>
            <p:ph type="body" idx="1"/>
          </p:nvPr>
        </p:nvSpPr>
        <p:spPr>
          <a:xfrm>
            <a:off x="398800" y="1143000"/>
            <a:ext cx="11323200" cy="4953000"/>
          </a:xfrm>
          <a:prstGeom prst="rect">
            <a:avLst/>
          </a:prstGeom>
          <a:noFill/>
          <a:ln>
            <a:noFill/>
          </a:ln>
        </p:spPr>
        <p:txBody>
          <a:bodyPr spcFirstLastPara="1" wrap="square" lIns="91425" tIns="45700" rIns="91425" bIns="45700" anchor="t" anchorCtr="0">
            <a:noAutofit/>
          </a:bodyPr>
          <a:lstStyle/>
          <a:p>
            <a:pPr marL="76200" indent="0">
              <a:buNone/>
              <a:defRPr sz="1800">
                <a:solidFill>
                  <a:srgbClr val="000000"/>
                </a:solidFill>
              </a:defRPr>
            </a:pPr>
            <a:r>
              <a:rPr sz="1900" b="1" dirty="0">
                <a:latin typeface="Cambria" panose="02040503050406030204" pitchFamily="18" charset="0"/>
                <a:ea typeface="Cambria" panose="02040503050406030204" pitchFamily="18" charset="0"/>
              </a:rPr>
              <a:t>Technology Stack Components:</a:t>
            </a:r>
            <a:endParaRPr lang="en-US" sz="1900" b="1"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Frontend: React.js (for dynamic UI), Tailwind CSS (for optional styling), Axios/Fetch (for API communication).</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Backend: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(Python 3.11+) with </a:t>
            </a:r>
            <a:r>
              <a:rPr sz="1900" dirty="0" err="1">
                <a:latin typeface="Cambria" panose="02040503050406030204" pitchFamily="18" charset="0"/>
                <a:ea typeface="Cambria" panose="02040503050406030204" pitchFamily="18" charset="0"/>
              </a:rPr>
              <a:t>Uvicorn</a:t>
            </a:r>
            <a:r>
              <a:rPr sz="1900" dirty="0">
                <a:latin typeface="Cambria" panose="02040503050406030204" pitchFamily="18" charset="0"/>
                <a:ea typeface="Cambria" panose="02040503050406030204" pitchFamily="18" charset="0"/>
              </a:rPr>
              <a:t> server for async API handling.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Web Scraping: BeautifulSoup4 and Requests for real-time product data extraction from Amazon and Flipkart.</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Image Processing: Pillow (PIL)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a:t>
            </a:r>
            <a:r>
              <a:rPr sz="1900" dirty="0" err="1">
                <a:latin typeface="Cambria" panose="02040503050406030204" pitchFamily="18" charset="0"/>
                <a:ea typeface="Cambria" panose="02040503050406030204" pitchFamily="18" charset="0"/>
              </a:rPr>
              <a:t>UploadFile</a:t>
            </a:r>
            <a:r>
              <a:rPr sz="1900" dirty="0">
                <a:latin typeface="Cambria" panose="02040503050406030204" pitchFamily="18" charset="0"/>
                <a:ea typeface="Cambria" panose="02040503050406030204" pitchFamily="18" charset="0"/>
              </a:rPr>
              <a:t> for handling and preprocessing image uploads.</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AI Model: Cohere Chat API (command-r-plus-08-2024) for text and image understanding.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Database: None (real-time scraping only). </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r>
              <a:rPr sz="1900" dirty="0">
                <a:latin typeface="Cambria" panose="02040503050406030204" pitchFamily="18" charset="0"/>
                <a:ea typeface="Cambria" panose="02040503050406030204" pitchFamily="18" charset="0"/>
              </a:rPr>
              <a:t>Future enhancement: MongoDB/PostgreSQL.</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Development Tools: Python 3.11+, VS Code, Node.js + </a:t>
            </a:r>
            <a:r>
              <a:rPr sz="1900" dirty="0" err="1">
                <a:latin typeface="Cambria" panose="02040503050406030204" pitchFamily="18" charset="0"/>
                <a:ea typeface="Cambria" panose="02040503050406030204" pitchFamily="18" charset="0"/>
              </a:rPr>
              <a:t>npm</a:t>
            </a:r>
            <a:r>
              <a:rPr sz="1900" dirty="0">
                <a:latin typeface="Cambria" panose="02040503050406030204" pitchFamily="18" charset="0"/>
                <a:ea typeface="Cambria" panose="02040503050406030204" pitchFamily="18" charset="0"/>
              </a:rPr>
              <a:t>, Git, and Postman for API testing.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Deployment: </a:t>
            </a:r>
            <a:r>
              <a:rPr sz="1900" dirty="0" err="1">
                <a:latin typeface="Cambria" panose="02040503050406030204" pitchFamily="18" charset="0"/>
                <a:ea typeface="Cambria" panose="02040503050406030204" pitchFamily="18" charset="0"/>
              </a:rPr>
              <a:t>Vercel</a:t>
            </a:r>
            <a:r>
              <a:rPr sz="1900" dirty="0">
                <a:latin typeface="Cambria" panose="02040503050406030204" pitchFamily="18" charset="0"/>
                <a:ea typeface="Cambria" panose="02040503050406030204" pitchFamily="18" charset="0"/>
              </a:rPr>
              <a:t> (frontend)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backend on cloud or local environment.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0" name="Google Shape;140;p21"/>
          <p:cNvSpPr txBox="1">
            <a:spLocks noGrp="1"/>
          </p:cNvSpPr>
          <p:nvPr>
            <p:ph type="body" idx="1"/>
          </p:nvPr>
        </p:nvSpPr>
        <p:spPr>
          <a:xfrm>
            <a:off x="812800" y="1046860"/>
            <a:ext cx="10668000" cy="4953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None/>
            </a:pPr>
            <a:r>
              <a:rPr lang="en-US" sz="1900" b="1">
                <a:latin typeface="Cambria"/>
                <a:ea typeface="Cambria"/>
                <a:cs typeface="Cambria"/>
                <a:sym typeface="Cambria"/>
              </a:rPr>
              <a:t>Software and Hardware Requirements:</a:t>
            </a:r>
            <a:endParaRPr sz="1900">
              <a:latin typeface="Cambria"/>
              <a:ea typeface="Cambria"/>
              <a:cs typeface="Cambria"/>
              <a:sym typeface="Cambria"/>
            </a:endParaRPr>
          </a:p>
          <a:p>
            <a:pPr marL="457200" lvl="0" indent="-349250" algn="just" rtl="0">
              <a:lnSpc>
                <a:spcPct val="115000"/>
              </a:lnSpc>
              <a:spcBef>
                <a:spcPts val="1200"/>
              </a:spcBef>
              <a:spcAft>
                <a:spcPts val="0"/>
              </a:spcAft>
              <a:buSzPts val="1900"/>
              <a:buChar char="●"/>
            </a:pPr>
            <a:r>
              <a:rPr lang="en-US" sz="1900">
                <a:latin typeface="Cambria"/>
                <a:ea typeface="Cambria"/>
                <a:cs typeface="Cambria"/>
                <a:sym typeface="Cambria"/>
              </a:rPr>
              <a:t>Software: Python 3.8+, Node.js, VS Code, Git.</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Char char="●"/>
            </a:pPr>
            <a:r>
              <a:rPr lang="en-US" sz="1900">
                <a:latin typeface="Cambria"/>
                <a:ea typeface="Cambria"/>
                <a:cs typeface="Cambria"/>
                <a:sym typeface="Cambria"/>
              </a:rPr>
              <a:t>Hardware: A standard development machine. For training/fine-tuning models, access to a GPU (like NVIDIA T4/V100) via Google Colab or a cloud service would be necessary.</a:t>
            </a:r>
            <a:endParaRPr sz="1900">
              <a:latin typeface="Cambria"/>
              <a:ea typeface="Cambria"/>
              <a:cs typeface="Cambria"/>
              <a:sym typeface="Cambria"/>
            </a:endParaRPr>
          </a:p>
          <a:p>
            <a:pPr marL="342900" lvl="0" indent="-190500" algn="just" rtl="0">
              <a:lnSpc>
                <a:spcPct val="200000"/>
              </a:lnSpc>
              <a:spcBef>
                <a:spcPts val="1200"/>
              </a:spcBef>
              <a:spcAft>
                <a:spcPts val="0"/>
              </a:spcAft>
              <a:buClr>
                <a:schemeClr val="dk1"/>
              </a:buClr>
              <a:buSzPts val="2400"/>
              <a:buNone/>
            </a:pPr>
            <a:endParaRPr>
              <a:latin typeface="Cambria"/>
              <a:ea typeface="Cambria"/>
              <a:cs typeface="Cambria"/>
              <a:sym typeface="Cambria"/>
            </a:endParaRPr>
          </a:p>
        </p:txBody>
      </p:sp>
      <p:pic>
        <p:nvPicPr>
          <p:cNvPr id="141" name="Google Shape;141;p21"/>
          <p:cNvPicPr preferRelativeResize="0"/>
          <p:nvPr/>
        </p:nvPicPr>
        <p:blipFill rotWithShape="1">
          <a:blip r:embed="rId3">
            <a:alphaModFix/>
          </a:blip>
          <a:srcRect b="8020"/>
          <a:stretch/>
        </p:blipFill>
        <p:spPr>
          <a:xfrm>
            <a:off x="6096000" y="2801049"/>
            <a:ext cx="5848263" cy="31988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2"/>
          <p:cNvPicPr preferRelativeResize="0"/>
          <p:nvPr/>
        </p:nvPicPr>
        <p:blipFill>
          <a:blip r:embed="rId3">
            <a:alphaModFix/>
          </a:blip>
          <a:stretch>
            <a:fillRect/>
          </a:stretch>
        </p:blipFill>
        <p:spPr>
          <a:xfrm>
            <a:off x="2280550" y="1121650"/>
            <a:ext cx="7630899" cy="508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lvl="0" algn="just">
              <a:lnSpc>
                <a:spcPct val="200000"/>
              </a:lnSpc>
            </a:pPr>
            <a:r>
              <a:rPr lang="en-US" dirty="0">
                <a:solidFill>
                  <a:schemeClr val="dk2"/>
                </a:solidFill>
                <a:latin typeface="Cambria"/>
                <a:ea typeface="Cambria"/>
                <a:cs typeface="Cambria"/>
                <a:sym typeface="Cambria"/>
              </a:rPr>
              <a:t>Innovation or Novel Contributions</a:t>
            </a:r>
            <a:endParaRPr dirty="0"/>
          </a:p>
        </p:txBody>
      </p:sp>
      <p:sp>
        <p:nvSpPr>
          <p:cNvPr id="152" name="Google Shape;152;p23"/>
          <p:cNvSpPr txBox="1">
            <a:spLocks noGrp="1"/>
          </p:cNvSpPr>
          <p:nvPr>
            <p:ph type="body" idx="1"/>
          </p:nvPr>
        </p:nvSpPr>
        <p:spPr>
          <a:xfrm>
            <a:off x="812800" y="1143001"/>
            <a:ext cx="10668000" cy="4953000"/>
          </a:xfrm>
          <a:prstGeom prst="rect">
            <a:avLst/>
          </a:prstGeom>
        </p:spPr>
        <p:txBody>
          <a:bodyPr spcFirstLastPara="1" wrap="square" lIns="91425" tIns="45700" rIns="91425" bIns="45700" anchor="ctr" anchorCtr="0">
            <a:noAutofit/>
          </a:bodyPr>
          <a:lstStyle/>
          <a:p>
            <a:pPr marL="76200" indent="0">
              <a:buNone/>
              <a:defRPr sz="1800">
                <a:solidFill>
                  <a:srgbClr val="000000"/>
                </a:solidFill>
              </a:defRPr>
            </a:pPr>
            <a:r>
              <a:rPr dirty="0"/>
              <a:t>1. Multimodal Intelligence: The system fuses both text and image inputs using </a:t>
            </a:r>
            <a:r>
              <a:rPr dirty="0" err="1"/>
              <a:t>Cohere’s</a:t>
            </a:r>
            <a:r>
              <a:rPr dirty="0"/>
              <a:t> Command-R+ API to understand user intent and provide highly relevant results.</a:t>
            </a:r>
            <a:br>
              <a:rPr dirty="0"/>
            </a:br>
            <a:r>
              <a:rPr dirty="0"/>
              <a:t>2. Smart Conversational Copilot: The chatbot offers human-like assistance, handling natural dialogue, comparisons, and personalized suggestions in real time.</a:t>
            </a:r>
            <a:br>
              <a:rPr dirty="0"/>
            </a:br>
            <a:r>
              <a:rPr dirty="0"/>
              <a:t>3. Simplified and Efficient Stack: Replaced multiple complex AI models (CLIP, SBERT, </a:t>
            </a:r>
            <a:r>
              <a:rPr dirty="0" err="1"/>
              <a:t>LLaMA</a:t>
            </a:r>
            <a:r>
              <a:rPr dirty="0"/>
              <a:t>) with a single robust API that supports multimodal understanding.</a:t>
            </a:r>
            <a:br>
              <a:rPr dirty="0"/>
            </a:br>
            <a:r>
              <a:rPr dirty="0"/>
              <a:t>4. Focused on Explainability: Uses conversational transparency to explain product matches and enhance user trust.</a:t>
            </a:r>
            <a:br>
              <a:rPr dirty="0"/>
            </a:br>
            <a:r>
              <a:rPr dirty="0"/>
              <a:t>5. Real-Time Experience: Live data scraping replaces static databases for up-to-date product insights and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158" name="Google Shape;158;p24"/>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p:txBody>
      </p:sp>
      <p:sp>
        <p:nvSpPr>
          <p:cNvPr id="159" name="Google Shape;159;p24"/>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p:txBody>
      </p:sp>
      <p:sp>
        <p:nvSpPr>
          <p:cNvPr id="160" name="Google Shape;160;p24"/>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p>
            <a:pPr marL="457200" marR="0" lvl="0" indent="0" algn="just" rtl="0">
              <a:lnSpc>
                <a:spcPct val="100000"/>
              </a:lnSpc>
              <a:spcBef>
                <a:spcPts val="0"/>
              </a:spcBef>
              <a:spcAft>
                <a:spcPts val="0"/>
              </a:spcAft>
              <a:buNone/>
            </a:pPr>
            <a:endParaRPr sz="1900">
              <a:latin typeface="Cambria"/>
              <a:ea typeface="Cambria"/>
              <a:cs typeface="Cambria"/>
              <a:sym typeface="Cambria"/>
            </a:endParaRPr>
          </a:p>
          <a:p>
            <a:pPr marL="457200" lvl="0" indent="-349250" algn="just" rtl="0">
              <a:spcBef>
                <a:spcPts val="0"/>
              </a:spcBef>
              <a:spcAft>
                <a:spcPts val="0"/>
              </a:spcAft>
              <a:buSzPts val="1900"/>
              <a:buFont typeface="Cambria"/>
              <a:buChar char="●"/>
            </a:pPr>
            <a:r>
              <a:rPr lang="en-US" sz="1900">
                <a:latin typeface="Cambria"/>
                <a:ea typeface="Cambria"/>
                <a:cs typeface="Cambria"/>
                <a:sym typeface="Cambria"/>
              </a:rPr>
              <a:t>The project is actively managed on GitHub to ensure version control and collaborative development.</a:t>
            </a:r>
            <a:endParaRPr sz="1900">
              <a:latin typeface="Cambria"/>
              <a:ea typeface="Cambria"/>
              <a:cs typeface="Cambria"/>
              <a:sym typeface="Cambria"/>
            </a:endParaRPr>
          </a:p>
          <a:p>
            <a:pPr marL="457200" lvl="0" indent="0" algn="just" rtl="0">
              <a:spcBef>
                <a:spcPts val="0"/>
              </a:spcBef>
              <a:spcAft>
                <a:spcPts val="0"/>
              </a:spcAft>
              <a:buNone/>
            </a:pPr>
            <a:endParaRPr sz="1900">
              <a:latin typeface="Cambria"/>
              <a:ea typeface="Cambria"/>
              <a:cs typeface="Cambria"/>
              <a:sym typeface="Cambria"/>
            </a:endParaRPr>
          </a:p>
          <a:p>
            <a:pPr marL="457200" lvl="0" indent="-349250" algn="just" rtl="0">
              <a:spcBef>
                <a:spcPts val="0"/>
              </a:spcBef>
              <a:spcAft>
                <a:spcPts val="0"/>
              </a:spcAft>
              <a:buSzPts val="1900"/>
              <a:buFont typeface="Cambria"/>
              <a:buChar char="●"/>
            </a:pPr>
            <a:r>
              <a:rPr lang="en-US" sz="1900">
                <a:latin typeface="Cambria"/>
                <a:ea typeface="Cambria"/>
                <a:cs typeface="Cambria"/>
                <a:sym typeface="Cambria"/>
              </a:rPr>
              <a:t>The repository contains all source code, documentation, and project-related files.</a:t>
            </a:r>
            <a:endParaRPr sz="1900">
              <a:latin typeface="Cambria"/>
              <a:ea typeface="Cambria"/>
              <a:cs typeface="Cambria"/>
              <a:sym typeface="Cambria"/>
            </a:endParaRPr>
          </a:p>
          <a:p>
            <a:pPr marL="457200" lvl="0" indent="0" algn="just" rtl="0">
              <a:spcBef>
                <a:spcPts val="0"/>
              </a:spcBef>
              <a:spcAft>
                <a:spcPts val="0"/>
              </a:spcAft>
              <a:buNone/>
            </a:pPr>
            <a:endParaRPr sz="1900">
              <a:latin typeface="Cambria"/>
              <a:ea typeface="Cambria"/>
              <a:cs typeface="Cambria"/>
              <a:sym typeface="Cambria"/>
            </a:endParaRPr>
          </a:p>
          <a:p>
            <a:pPr marL="457200" marR="0" lvl="0" indent="-349250" algn="just" rtl="0">
              <a:lnSpc>
                <a:spcPct val="100000"/>
              </a:lnSpc>
              <a:spcBef>
                <a:spcPts val="0"/>
              </a:spcBef>
              <a:spcAft>
                <a:spcPts val="0"/>
              </a:spcAft>
              <a:buSzPts val="1900"/>
              <a:buChar char="●"/>
            </a:pPr>
            <a:r>
              <a:rPr lang="en-US" sz="1900">
                <a:latin typeface="Cambria"/>
                <a:ea typeface="Cambria"/>
                <a:cs typeface="Cambria"/>
                <a:sym typeface="Cambria"/>
              </a:rPr>
              <a:t>Link:  </a:t>
            </a:r>
            <a:r>
              <a:rPr lang="en-US" sz="1900" u="sng">
                <a:solidFill>
                  <a:schemeClr val="hlink"/>
                </a:solidFill>
                <a:latin typeface="Cambria"/>
                <a:ea typeface="Cambria"/>
                <a:cs typeface="Cambria"/>
                <a:sym typeface="Cambria"/>
                <a:hlinkClick r:id="rId3"/>
              </a:rPr>
              <a:t>https://github.com/Hida-Fathima/Personalized_AI_Shopping_Copilot</a:t>
            </a:r>
            <a:endParaRPr sz="1900" i="0" u="none" strike="noStrike" cap="none">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endParaRPr dirty="0"/>
          </a:p>
        </p:txBody>
      </p:sp>
      <p:pic>
        <p:nvPicPr>
          <p:cNvPr id="166" name="Google Shape;166;p25"/>
          <p:cNvPicPr preferRelativeResize="0"/>
          <p:nvPr/>
        </p:nvPicPr>
        <p:blipFill rotWithShape="1">
          <a:blip r:embed="rId3">
            <a:alphaModFix/>
          </a:blip>
          <a:srcRect t="5329"/>
          <a:stretch/>
        </p:blipFill>
        <p:spPr>
          <a:xfrm>
            <a:off x="6953122" y="1065808"/>
            <a:ext cx="4466379" cy="4040104"/>
          </a:xfrm>
          <a:prstGeom prst="rect">
            <a:avLst/>
          </a:prstGeom>
          <a:noFill/>
          <a:ln>
            <a:noFill/>
          </a:ln>
        </p:spPr>
      </p:pic>
      <p:sp>
        <p:nvSpPr>
          <p:cNvPr id="3" name="TextBox 2">
            <a:extLst>
              <a:ext uri="{FF2B5EF4-FFF2-40B4-BE49-F238E27FC236}">
                <a16:creationId xmlns:a16="http://schemas.microsoft.com/office/drawing/2014/main" id="{4F0664BA-913C-3A52-E8DC-A6BFBD28B17F}"/>
              </a:ext>
            </a:extLst>
          </p:cNvPr>
          <p:cNvSpPr txBox="1"/>
          <p:nvPr/>
        </p:nvSpPr>
        <p:spPr>
          <a:xfrm>
            <a:off x="772499" y="1474149"/>
            <a:ext cx="6097022" cy="3893374"/>
          </a:xfrm>
          <a:prstGeom prst="rect">
            <a:avLst/>
          </a:prstGeom>
          <a:noFill/>
        </p:spPr>
        <p:txBody>
          <a:bodyPr wrap="square">
            <a:spAutoFit/>
          </a:bodyPr>
          <a:lstStyle/>
          <a:p>
            <a:pPr marL="0" lvl="0" indent="0" algn="l" rtl="0">
              <a:lnSpc>
                <a:spcPct val="100000"/>
              </a:lnSpc>
              <a:spcBef>
                <a:spcPts val="0"/>
              </a:spcBef>
              <a:spcAft>
                <a:spcPts val="0"/>
              </a:spcAft>
              <a:buClr>
                <a:srgbClr val="17365D"/>
              </a:buClr>
              <a:buSzPts val="2800"/>
              <a:buFont typeface="Verdana"/>
              <a:buNone/>
            </a:pPr>
            <a:endParaRPr lang="en-IN" sz="1900" dirty="0">
              <a:latin typeface="Cambria" panose="02040503050406030204" pitchFamily="18" charset="0"/>
              <a:ea typeface="Cambria" panose="02040503050406030204" pitchFamily="18" charset="0"/>
              <a:cs typeface="Cambria"/>
              <a:sym typeface="Cambria"/>
            </a:endParaRPr>
          </a:p>
          <a:p>
            <a:pPr>
              <a:defRPr sz="1800">
                <a:solidFill>
                  <a:srgbClr val="000000"/>
                </a:solidFill>
              </a:defRPr>
            </a:pPr>
            <a:r>
              <a:rPr lang="en-IN" sz="1900" dirty="0">
                <a:latin typeface="Cambria" panose="02040503050406030204" pitchFamily="18" charset="0"/>
                <a:ea typeface="Cambria" panose="02040503050406030204" pitchFamily="18" charset="0"/>
              </a:rPr>
              <a:t>Revised Project Timeline (Gantt Overview):</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1–3: Requirement analysis and architecture planning</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4–5: Frontend setup (React.js UI)</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6–7: Backend API development (</a:t>
            </a:r>
            <a:r>
              <a:rPr lang="en-IN" sz="1900" dirty="0" err="1">
                <a:latin typeface="Cambria" panose="02040503050406030204" pitchFamily="18" charset="0"/>
                <a:ea typeface="Cambria" panose="02040503050406030204" pitchFamily="18" charset="0"/>
              </a:rPr>
              <a:t>FastAPI</a:t>
            </a:r>
            <a:r>
              <a:rPr lang="en-IN" sz="1900" dirty="0">
                <a:latin typeface="Cambria" panose="02040503050406030204" pitchFamily="18" charset="0"/>
                <a:ea typeface="Cambria" panose="02040503050406030204" pitchFamily="18" charset="0"/>
              </a:rPr>
              <a:t> + </a:t>
            </a:r>
            <a:r>
              <a:rPr lang="en-IN" sz="1900" dirty="0" err="1">
                <a:latin typeface="Cambria" panose="02040503050406030204" pitchFamily="18" charset="0"/>
                <a:ea typeface="Cambria" panose="02040503050406030204" pitchFamily="18" charset="0"/>
              </a:rPr>
              <a:t>Uvicorn</a:t>
            </a:r>
            <a:r>
              <a:rPr lang="en-IN" sz="1900" dirty="0">
                <a:latin typeface="Cambria" panose="02040503050406030204" pitchFamily="18" charset="0"/>
                <a:ea typeface="Cambria" panose="02040503050406030204" pitchFamily="18" charset="0"/>
              </a:rPr>
              <a:t>)</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8–9: Cohere API Integration &amp; Prompt Engineering</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10: Web Scraper Implementation (</a:t>
            </a:r>
            <a:r>
              <a:rPr lang="en-IN" sz="1900" dirty="0" err="1">
                <a:latin typeface="Cambria" panose="02040503050406030204" pitchFamily="18" charset="0"/>
                <a:ea typeface="Cambria" panose="02040503050406030204" pitchFamily="18" charset="0"/>
              </a:rPr>
              <a:t>BeautifulSoup</a:t>
            </a:r>
            <a:r>
              <a:rPr lang="en-IN" sz="1900" dirty="0">
                <a:latin typeface="Cambria" panose="02040503050406030204" pitchFamily="18" charset="0"/>
                <a:ea typeface="Cambria" panose="02040503050406030204" pitchFamily="18" charset="0"/>
              </a:rPr>
              <a:t>, Requests)</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11: Testing, Debugging &amp; UI/UX Refinement</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12: Final Review, Documentation &amp;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72" name="Google Shape;172;p26"/>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0" lvl="0" indent="0" algn="just" rtl="0">
              <a:lnSpc>
                <a:spcPct val="131250"/>
              </a:lnSpc>
              <a:spcBef>
                <a:spcPts val="1200"/>
              </a:spcBef>
              <a:spcAft>
                <a:spcPts val="0"/>
              </a:spcAft>
              <a:buClr>
                <a:schemeClr val="dk1"/>
              </a:buClr>
              <a:buSzPts val="1100"/>
              <a:buFont typeface="Arial"/>
              <a:buNone/>
            </a:pPr>
            <a:r>
              <a:rPr lang="en-US" sz="1900">
                <a:latin typeface="Cambria"/>
                <a:ea typeface="Cambria"/>
                <a:cs typeface="Cambria"/>
                <a:sym typeface="Cambria"/>
              </a:rPr>
              <a:t>[1] Jindi Fu, Samar Mouakket, and Yuan Sun, “The role of chatbots’ human-like characteristics in online shopping,” </a:t>
            </a:r>
            <a:r>
              <a:rPr lang="en-US" sz="1900" i="1">
                <a:latin typeface="Cambria"/>
                <a:ea typeface="Cambria"/>
                <a:cs typeface="Cambria"/>
                <a:sym typeface="Cambria"/>
              </a:rPr>
              <a:t>Electronic Commerce Research and Applications</a:t>
            </a:r>
            <a:r>
              <a:rPr lang="en-US" sz="1900">
                <a:latin typeface="Cambria"/>
                <a:ea typeface="Cambria"/>
                <a:cs typeface="Cambria"/>
                <a:sym typeface="Cambria"/>
              </a:rPr>
              <a:t>, vol. 61, p. 101304, August 2023. doi:10.1016/j.elerap.2023.101304. </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[2] Sidlauskiene, Justina, Yannick Joye, and Vilte Auruskeviciene, “AI-based chatbots in conversational commerce and their effects on product and price perceptions,” </a:t>
            </a:r>
            <a:r>
              <a:rPr lang="en-US" sz="1900" i="1">
                <a:latin typeface="Cambria"/>
                <a:ea typeface="Cambria"/>
                <a:cs typeface="Cambria"/>
                <a:sym typeface="Cambria"/>
              </a:rPr>
              <a:t>Electronic Markets</a:t>
            </a:r>
            <a:r>
              <a:rPr lang="en-US" sz="1900">
                <a:latin typeface="Cambria"/>
                <a:ea typeface="Cambria"/>
                <a:cs typeface="Cambria"/>
                <a:sym typeface="Cambria"/>
              </a:rPr>
              <a:t>, vol. 33, no. 1, May 2023. doi: 10.1007/s12525-023-00633-8. Available:</a:t>
            </a:r>
            <a:r>
              <a:rPr lang="en-US" sz="1900">
                <a:uFill>
                  <a:noFill/>
                </a:uFill>
                <a:latin typeface="Cambria"/>
                <a:ea typeface="Cambria"/>
                <a:cs typeface="Cambria"/>
                <a:sym typeface="Cambria"/>
                <a:hlinkClick r:id="rId3"/>
              </a:rPr>
              <a:t> </a:t>
            </a:r>
            <a:r>
              <a:rPr lang="en-US" sz="1900" u="sng">
                <a:solidFill>
                  <a:srgbClr val="1155CC"/>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ResearchGate</a:t>
            </a:r>
            <a:r>
              <a:rPr lang="en-US" sz="1900">
                <a:latin typeface="Cambria"/>
                <a:ea typeface="Cambria"/>
                <a:cs typeface="Cambria"/>
                <a:sym typeface="Cambria"/>
              </a:rPr>
              <a:t>.</a:t>
            </a:r>
            <a:endParaRPr sz="1900" u="sng">
              <a:solidFill>
                <a:schemeClr val="hlink"/>
              </a:solidFill>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[3] Badave P, Bhomaj B, Bindu B, Shivarkar R, Prof Dhavase N,“E-commerce website with recommendation system including chatbot and reverse image search”, </a:t>
            </a:r>
            <a:r>
              <a:rPr lang="en-US" sz="1900" i="1">
                <a:latin typeface="Cambria"/>
                <a:ea typeface="Cambria"/>
                <a:cs typeface="Cambria"/>
                <a:sym typeface="Cambria"/>
              </a:rPr>
              <a:t>International Journal for Research in Applied Science &amp; Engineering Technology (IJRASET)</a:t>
            </a:r>
            <a:r>
              <a:rPr lang="en-US" sz="1900">
                <a:latin typeface="Cambria"/>
                <a:ea typeface="Cambria"/>
                <a:cs typeface="Cambria"/>
                <a:sym typeface="Cambria"/>
              </a:rPr>
              <a:t>, vol. 10, no. 9, pp. 1663-80., Sep, 2022. Available:</a:t>
            </a:r>
            <a:r>
              <a:rPr lang="en-US" sz="1900">
                <a:uFill>
                  <a:noFill/>
                </a:uFill>
                <a:latin typeface="Cambria"/>
                <a:ea typeface="Cambria"/>
                <a:cs typeface="Cambria"/>
                <a:sym typeface="Cambria"/>
                <a:hlinkClick r:id="rId4"/>
              </a:rPr>
              <a:t>  </a:t>
            </a:r>
            <a:r>
              <a:rPr lang="en-US" sz="1900" u="sng">
                <a:solidFill>
                  <a:srgbClr val="1155CC"/>
                </a:solidFill>
                <a:latin typeface="Cambria"/>
                <a:ea typeface="Cambria"/>
                <a:cs typeface="Cambria"/>
                <a:sym typeface="Cambria"/>
                <a:hlinkClick r:id="rId4">
                  <a:extLst>
                    <a:ext uri="{A12FA001-AC4F-418D-AE19-62706E023703}">
                      <ahyp:hlinkClr xmlns:ahyp="http://schemas.microsoft.com/office/drawing/2018/hyperlinkcolor" val="tx"/>
                    </a:ext>
                  </a:extLst>
                </a:hlinkClick>
              </a:rPr>
              <a:t>Link</a:t>
            </a:r>
            <a:r>
              <a:rPr lang="en-US" sz="1900" u="sng">
                <a:solidFill>
                  <a:srgbClr val="1155CC"/>
                </a:solidFill>
                <a:latin typeface="Cambria"/>
                <a:ea typeface="Cambria"/>
                <a:cs typeface="Cambria"/>
                <a:sym typeface="Cambria"/>
              </a:rPr>
              <a:t>.</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[4] M. Rahevar, Maharshi, and S. Darji, “The adoption of AI-driven chatbots into a recommendation for e-commerce systems to targeted customer in the selection of product,” </a:t>
            </a:r>
            <a:r>
              <a:rPr lang="en-US" sz="1900" i="1">
                <a:latin typeface="Cambria"/>
                <a:ea typeface="Cambria"/>
                <a:cs typeface="Cambria"/>
                <a:sym typeface="Cambria"/>
              </a:rPr>
              <a:t>International Journal of Management, Economics and Commerce, vol: 1, no. 2,</a:t>
            </a:r>
            <a:r>
              <a:rPr lang="en-US" sz="1900">
                <a:latin typeface="Cambria"/>
                <a:ea typeface="Cambria"/>
                <a:cs typeface="Cambria"/>
                <a:sym typeface="Cambria"/>
              </a:rPr>
              <a:t> 128-137, 2024. Available:</a:t>
            </a:r>
            <a:r>
              <a:rPr lang="en-US" sz="1900">
                <a:uFill>
                  <a:noFill/>
                </a:uFill>
                <a:latin typeface="Cambria"/>
                <a:ea typeface="Cambria"/>
                <a:cs typeface="Cambria"/>
                <a:sym typeface="Cambria"/>
                <a:hlinkClick r:id="rId5"/>
              </a:rPr>
              <a:t> </a:t>
            </a:r>
            <a:r>
              <a:rPr lang="en-US" sz="1900" u="sng">
                <a:solidFill>
                  <a:srgbClr val="1155CC"/>
                </a:solidFill>
                <a:latin typeface="Cambria"/>
                <a:ea typeface="Cambria"/>
                <a:cs typeface="Cambria"/>
                <a:sym typeface="Cambria"/>
                <a:hlinkClick r:id="rId5">
                  <a:extLst>
                    <a:ext uri="{A12FA001-AC4F-418D-AE19-62706E023703}">
                      <ahyp:hlinkClr xmlns:ahyp="http://schemas.microsoft.com/office/drawing/2018/hyperlinkcolor" val="tx"/>
                    </a:ext>
                  </a:extLst>
                </a:hlinkClick>
              </a:rPr>
              <a:t>Link</a:t>
            </a:r>
            <a:r>
              <a:rPr lang="en-US" sz="1900">
                <a:latin typeface="Cambria"/>
                <a:ea typeface="Cambria"/>
                <a:cs typeface="Cambria"/>
                <a:sym typeface="Cambria"/>
              </a:rPr>
              <a:t>.</a:t>
            </a:r>
            <a:endParaRPr sz="1900">
              <a:latin typeface="Cambria"/>
              <a:ea typeface="Cambria"/>
              <a:cs typeface="Cambria"/>
              <a:sym typeface="Cambria"/>
            </a:endParaRPr>
          </a:p>
          <a:p>
            <a:pPr marL="0" lvl="0" indent="0" algn="just" rtl="0">
              <a:lnSpc>
                <a:spcPct val="131250"/>
              </a:lnSpc>
              <a:spcBef>
                <a:spcPts val="1200"/>
              </a:spcBef>
              <a:spcAft>
                <a:spcPts val="0"/>
              </a:spcAft>
              <a:buClr>
                <a:schemeClr val="dk1"/>
              </a:buClr>
              <a:buSzPts val="1100"/>
              <a:buFont typeface="Arial"/>
              <a:buNone/>
            </a:pPr>
            <a:endParaRPr sz="1900">
              <a:latin typeface="Cambria"/>
              <a:ea typeface="Cambria"/>
              <a:cs typeface="Cambria"/>
              <a:sym typeface="Cambria"/>
            </a:endParaRPr>
          </a:p>
          <a:p>
            <a:pPr marL="152400" lvl="0" indent="0" algn="just" rtl="0">
              <a:lnSpc>
                <a:spcPct val="100000"/>
              </a:lnSpc>
              <a:spcBef>
                <a:spcPts val="1200"/>
              </a:spcBef>
              <a:spcAft>
                <a:spcPts val="0"/>
              </a:spcAft>
              <a:buSzPts val="2400"/>
              <a:buNone/>
            </a:pPr>
            <a:endParaRPr sz="190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a:latin typeface="Cambria"/>
                <a:ea typeface="Cambria"/>
                <a:cs typeface="Cambria"/>
                <a:sym typeface="Cambria"/>
              </a:rPr>
              <a:t>References (Contd.)</a:t>
            </a:r>
            <a:endParaRPr>
              <a:latin typeface="Cambria"/>
              <a:ea typeface="Cambria"/>
              <a:cs typeface="Cambria"/>
              <a:sym typeface="Cambria"/>
            </a:endParaRPr>
          </a:p>
        </p:txBody>
      </p:sp>
      <p:sp>
        <p:nvSpPr>
          <p:cNvPr id="178" name="Google Shape;178;p27"/>
          <p:cNvSpPr txBox="1">
            <a:spLocks noGrp="1"/>
          </p:cNvSpPr>
          <p:nvPr>
            <p:ph type="body" idx="1"/>
          </p:nvPr>
        </p:nvSpPr>
        <p:spPr>
          <a:xfrm>
            <a:off x="812800" y="1066801"/>
            <a:ext cx="10668000" cy="4953000"/>
          </a:xfrm>
          <a:prstGeom prst="rect">
            <a:avLst/>
          </a:prstGeom>
          <a:noFill/>
          <a:ln>
            <a:noFill/>
          </a:ln>
        </p:spPr>
        <p:txBody>
          <a:bodyPr spcFirstLastPara="1" wrap="square" lIns="91425" tIns="45700" rIns="91425" bIns="45700" anchor="t" anchorCtr="0">
            <a:noAutofit/>
          </a:bodyPr>
          <a:lstStyle/>
          <a:p>
            <a:pPr marL="0" lvl="0" indent="0" algn="just" rtl="0">
              <a:lnSpc>
                <a:spcPct val="131250"/>
              </a:lnSpc>
              <a:spcBef>
                <a:spcPts val="1200"/>
              </a:spcBef>
              <a:spcAft>
                <a:spcPts val="0"/>
              </a:spcAft>
              <a:buClr>
                <a:schemeClr val="dk1"/>
              </a:buClr>
              <a:buSzPts val="1100"/>
              <a:buFont typeface="Arial"/>
              <a:buNone/>
            </a:pPr>
            <a:r>
              <a:rPr lang="en-US" sz="1900">
                <a:latin typeface="Cambria"/>
                <a:ea typeface="Cambria"/>
                <a:cs typeface="Cambria"/>
                <a:sym typeface="Cambria"/>
              </a:rPr>
              <a:t>[5] Valencia-Arias, Alejandro, Hernán Uribe-Bedoya, Juan David González-Ruiz, Gustavo Sánchez Santos, Edgard Chapoñan Ramírez, and Ezequiel Martínez Rojas. "Artificial intelligence and recommender systems in e-commerce. Trends and research agenda." </a:t>
            </a:r>
            <a:r>
              <a:rPr lang="en-US" sz="1900" i="1">
                <a:latin typeface="Cambria"/>
                <a:ea typeface="Cambria"/>
                <a:cs typeface="Cambria"/>
                <a:sym typeface="Cambria"/>
              </a:rPr>
              <a:t>Intelligent Systems with Applications</a:t>
            </a:r>
            <a:r>
              <a:rPr lang="en-US" sz="1900">
                <a:latin typeface="Cambria"/>
                <a:ea typeface="Cambria"/>
                <a:cs typeface="Cambria"/>
                <a:sym typeface="Cambria"/>
              </a:rPr>
              <a:t> 24, p.200435, Dec 2024. doi: 10.1016/j.iswa.2024.200435.  </a:t>
            </a:r>
            <a:r>
              <a:rPr lang="en-US" sz="1900" u="sng">
                <a:solidFill>
                  <a:srgbClr val="1155CC"/>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DOI</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[6] Priya , and Dr Nidhi Bhagat, “The impact of AI-powered chatbots on shopper experience in e-commerce,” </a:t>
            </a:r>
            <a:r>
              <a:rPr lang="en-US" sz="1900" i="1">
                <a:latin typeface="Cambria"/>
                <a:ea typeface="Cambria"/>
                <a:cs typeface="Cambria"/>
                <a:sym typeface="Cambria"/>
              </a:rPr>
              <a:t>International Journal of Creative Research Thoughts (IJCRT)</a:t>
            </a:r>
            <a:r>
              <a:rPr lang="en-US" sz="1900">
                <a:latin typeface="Cambria"/>
                <a:ea typeface="Cambria"/>
                <a:cs typeface="Cambria"/>
                <a:sym typeface="Cambria"/>
              </a:rPr>
              <a:t>, vol. 13, April 2025. Available:  </a:t>
            </a:r>
            <a:r>
              <a:rPr lang="en-US" sz="1900" u="sng">
                <a:solidFill>
                  <a:srgbClr val="1155CC"/>
                </a:solidFill>
                <a:latin typeface="Cambria"/>
                <a:ea typeface="Cambria"/>
                <a:cs typeface="Cambria"/>
                <a:sym typeface="Cambria"/>
                <a:hlinkClick r:id="rId4">
                  <a:extLst>
                    <a:ext uri="{A12FA001-AC4F-418D-AE19-62706E023703}">
                      <ahyp:hlinkClr xmlns:ahyp="http://schemas.microsoft.com/office/drawing/2018/hyperlinkcolor" val="tx"/>
                    </a:ext>
                  </a:extLst>
                </a:hlinkClick>
              </a:rPr>
              <a:t>Link</a:t>
            </a:r>
            <a:endParaRPr sz="1900">
              <a:latin typeface="Cambria"/>
              <a:ea typeface="Cambria"/>
              <a:cs typeface="Cambria"/>
              <a:sym typeface="Cambria"/>
            </a:endParaRPr>
          </a:p>
          <a:p>
            <a:pPr marL="0" lvl="0" indent="0" algn="just" rtl="0">
              <a:lnSpc>
                <a:spcPct val="120000"/>
              </a:lnSpc>
              <a:spcBef>
                <a:spcPts val="1200"/>
              </a:spcBef>
              <a:spcAft>
                <a:spcPts val="0"/>
              </a:spcAft>
              <a:buClr>
                <a:schemeClr val="dk1"/>
              </a:buClr>
              <a:buSzPts val="1100"/>
              <a:buFont typeface="Arial"/>
              <a:buNone/>
            </a:pPr>
            <a:r>
              <a:rPr lang="en-US" sz="1900">
                <a:solidFill>
                  <a:srgbClr val="111111"/>
                </a:solidFill>
                <a:latin typeface="Cambria"/>
                <a:ea typeface="Cambria"/>
                <a:cs typeface="Cambria"/>
                <a:sym typeface="Cambria"/>
              </a:rPr>
              <a:t>[7] Dwivedi, Rohit, Abhineet Anand, Prashant Johri, Arpit Banerji, and N.K Gaur. "Product based recommendation system on amazon data." </a:t>
            </a:r>
            <a:r>
              <a:rPr lang="en-US" sz="1900" i="1">
                <a:solidFill>
                  <a:srgbClr val="111111"/>
                </a:solidFill>
                <a:latin typeface="Cambria"/>
                <a:ea typeface="Cambria"/>
                <a:cs typeface="Cambria"/>
                <a:sym typeface="Cambria"/>
              </a:rPr>
              <a:t>Int J Creat Res Thoughts–IJCRT, June</a:t>
            </a:r>
            <a:r>
              <a:rPr lang="en-US" sz="1900">
                <a:solidFill>
                  <a:srgbClr val="111111"/>
                </a:solidFill>
                <a:latin typeface="Cambria"/>
                <a:ea typeface="Cambria"/>
                <a:cs typeface="Cambria"/>
                <a:sym typeface="Cambria"/>
              </a:rPr>
              <a:t> 2020. Available: </a:t>
            </a:r>
            <a:r>
              <a:rPr lang="en-US" sz="1900" u="sng">
                <a:solidFill>
                  <a:srgbClr val="1155CC"/>
                </a:solidFill>
                <a:latin typeface="Cambria"/>
                <a:ea typeface="Cambria"/>
                <a:cs typeface="Cambria"/>
                <a:sym typeface="Cambria"/>
                <a:hlinkClick r:id="rId5">
                  <a:extLst>
                    <a:ext uri="{A12FA001-AC4F-418D-AE19-62706E023703}">
                      <ahyp:hlinkClr xmlns:ahyp="http://schemas.microsoft.com/office/drawing/2018/hyperlinkcolor" val="tx"/>
                    </a:ext>
                  </a:extLst>
                </a:hlinkClick>
              </a:rPr>
              <a:t>Link</a:t>
            </a:r>
            <a:endParaRPr sz="1900" u="sng">
              <a:solidFill>
                <a:schemeClr val="hlink"/>
              </a:solidFill>
              <a:latin typeface="Cambria"/>
              <a:ea typeface="Cambria"/>
              <a:cs typeface="Cambria"/>
              <a:sym typeface="Cambria"/>
            </a:endParaRPr>
          </a:p>
          <a:p>
            <a:pPr marL="0" lvl="0" indent="0" algn="just" rtl="0">
              <a:lnSpc>
                <a:spcPct val="120000"/>
              </a:lnSpc>
              <a:spcBef>
                <a:spcPts val="1200"/>
              </a:spcBef>
              <a:spcAft>
                <a:spcPts val="1200"/>
              </a:spcAft>
              <a:buClr>
                <a:schemeClr val="dk1"/>
              </a:buClr>
              <a:buSzPts val="1100"/>
              <a:buFont typeface="Arial"/>
              <a:buNone/>
            </a:pPr>
            <a:r>
              <a:rPr lang="en-US" sz="1900">
                <a:latin typeface="Cambria"/>
                <a:ea typeface="Cambria"/>
                <a:cs typeface="Cambria"/>
                <a:sym typeface="Cambria"/>
              </a:rPr>
              <a:t>[8] Illescas-Manzano, María, Sergio Martínez-Puertas, Paulo Ribeiro Cardoso, and Cristina Segovia-López. "Use of Online Shop Chatbots: How Trust in Seller Moderates Brand Preference and Purchase Intention." In </a:t>
            </a:r>
            <a:r>
              <a:rPr lang="en-US" sz="1900" i="1">
                <a:latin typeface="Cambria"/>
                <a:ea typeface="Cambria"/>
                <a:cs typeface="Cambria"/>
                <a:sym typeface="Cambria"/>
              </a:rPr>
              <a:t>International Conference on Advanced Marketing Practice</a:t>
            </a:r>
            <a:r>
              <a:rPr lang="en-US" sz="1900">
                <a:latin typeface="Cambria"/>
                <a:ea typeface="Cambria"/>
                <a:cs typeface="Cambria"/>
                <a:sym typeface="Cambria"/>
              </a:rPr>
              <a:t>, pp. 151-171. Cham: Springer Nature Switzerland, Nov 2024. </a:t>
            </a:r>
            <a:r>
              <a:rPr lang="en-US" sz="1900" u="sng">
                <a:solidFill>
                  <a:srgbClr val="1155CC"/>
                </a:solidFill>
                <a:latin typeface="Cambria"/>
                <a:ea typeface="Cambria"/>
                <a:cs typeface="Cambria"/>
                <a:sym typeface="Cambria"/>
                <a:hlinkClick r:id="rId6">
                  <a:extLst>
                    <a:ext uri="{A12FA001-AC4F-418D-AE19-62706E023703}">
                      <ahyp:hlinkClr xmlns:ahyp="http://schemas.microsoft.com/office/drawing/2018/hyperlinkcolor" val="tx"/>
                    </a:ext>
                  </a:extLst>
                </a:hlinkClick>
              </a:rPr>
              <a:t>DOI</a:t>
            </a:r>
            <a:endParaRPr sz="1900">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8"/>
          <p:cNvPicPr preferRelativeResize="0"/>
          <p:nvPr/>
        </p:nvPicPr>
        <p:blipFill rotWithShape="1">
          <a:blip r:embed="rId3">
            <a:alphaModFix/>
          </a:blip>
          <a:srcRect/>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1500</Words>
  <Application>Microsoft Office PowerPoint</Application>
  <PresentationFormat>Widescreen</PresentationFormat>
  <Paragraphs>92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Cambria</vt:lpstr>
      <vt:lpstr>Verdana</vt:lpstr>
      <vt:lpstr>Bioinformatics</vt:lpstr>
      <vt:lpstr>PROJECT TITLE: PERSONALIZED AI SHOPPING COPILOT</vt:lpstr>
      <vt:lpstr>Problem Statement Number: 4</vt:lpstr>
      <vt:lpstr>Content</vt:lpstr>
      <vt:lpstr>Problem Statement</vt:lpstr>
      <vt:lpstr>Objectives</vt:lpstr>
      <vt:lpstr>Background and Related work for title Selection</vt:lpstr>
      <vt:lpstr>Analysis of Problem Statement</vt:lpstr>
      <vt:lpstr>Analysis of Problem Statement (contd...)</vt:lpstr>
      <vt:lpstr>PowerPoint Presentation</vt:lpstr>
      <vt:lpstr>Innovation or Novel Contributions</vt:lpstr>
      <vt:lpstr>Github Link</vt:lpstr>
      <vt:lpstr>PowerPoint Presentation</vt:lpstr>
      <vt:lpstr>References (IEEE Paper format)</vt:lpstr>
      <vt:lpstr>References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Hida Fathima PH</dc:creator>
  <cp:lastModifiedBy>Hida Fathima PH</cp:lastModifiedBy>
  <cp:revision>1</cp:revision>
  <dcterms:modified xsi:type="dcterms:W3CDTF">2025-11-13T06:18:25Z</dcterms:modified>
</cp:coreProperties>
</file>